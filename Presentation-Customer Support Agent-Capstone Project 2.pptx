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Neo Tech Bold" charset="1" panose="020B0804030504040204"/>
      <p:regular r:id="rId14"/>
    </p:embeddedFont>
    <p:embeddedFont>
      <p:font typeface="Koho Bold" charset="1" panose="00000800000000000000"/>
      <p:regular r:id="rId15"/>
    </p:embeddedFont>
    <p:embeddedFont>
      <p:font typeface="Koho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01942" y="2468483"/>
            <a:ext cx="11104879" cy="421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8"/>
              </a:lnSpc>
            </a:pPr>
            <a:r>
              <a:rPr lang="en-US" b="true" sz="7437" u="sng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CAPSTONE PROJECT 2</a:t>
            </a:r>
          </a:p>
          <a:p>
            <a:pPr algn="ctr" marL="0" indent="0" lvl="0">
              <a:lnSpc>
                <a:spcPts val="7680"/>
              </a:lnSpc>
            </a:pPr>
            <a:r>
              <a:rPr lang="en-US" b="true" sz="6737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AGENTIC AI </a:t>
            </a:r>
          </a:p>
          <a:p>
            <a:pPr algn="l" marL="0" indent="0" lvl="0">
              <a:lnSpc>
                <a:spcPts val="7224"/>
              </a:lnSpc>
            </a:pPr>
            <a:r>
              <a:rPr lang="en-US" b="true" sz="6337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CUSTOMER SUPPORT AGENT </a:t>
            </a:r>
          </a:p>
          <a:p>
            <a:pPr algn="l" marL="0" indent="0" lvl="0">
              <a:lnSpc>
                <a:spcPts val="8478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3499617" y="-3375063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85162" y="6788094"/>
            <a:ext cx="10738439" cy="160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3"/>
              </a:lnSpc>
            </a:pPr>
            <a:r>
              <a:rPr lang="en-US" b="true" sz="2827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Multi-Agent System for Automated Customer Support</a:t>
            </a:r>
          </a:p>
          <a:p>
            <a:pPr algn="ctr" marL="0" indent="0" lvl="0">
              <a:lnSpc>
                <a:spcPts val="3223"/>
              </a:lnSpc>
            </a:pPr>
          </a:p>
          <a:p>
            <a:pPr algn="ctr" marL="0" indent="0" lvl="0">
              <a:lnSpc>
                <a:spcPts val="3223"/>
              </a:lnSpc>
            </a:pPr>
            <a:r>
              <a:rPr lang="en-US" b="true" sz="2827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Presented by </a:t>
            </a:r>
          </a:p>
          <a:p>
            <a:pPr algn="ctr" marL="0" indent="0" lvl="0">
              <a:lnSpc>
                <a:spcPts val="3223"/>
              </a:lnSpc>
            </a:pPr>
            <a:r>
              <a:rPr lang="en-US" b="true" sz="2827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SARANIYA DHANSEKARAN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-151067">
            <a:off x="-1812924" y="4400378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0" y="10230242"/>
                </a:moveTo>
                <a:lnTo>
                  <a:pt x="7161170" y="10230242"/>
                </a:lnTo>
                <a:lnTo>
                  <a:pt x="7161170" y="0"/>
                </a:lnTo>
                <a:lnTo>
                  <a:pt x="0" y="0"/>
                </a:lnTo>
                <a:lnTo>
                  <a:pt x="0" y="1023024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25238" y="-129416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94558" y="781733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53809" y="1685119"/>
            <a:ext cx="10894849" cy="123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43"/>
              </a:lnSpc>
            </a:pPr>
            <a:r>
              <a:rPr lang="en-US" b="true" sz="7494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TECHNICAL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42726" y="5265039"/>
            <a:ext cx="4230126" cy="3193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b="true" sz="2799" u="sng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AI Techniques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Retrieval-Augmented Generation (RAG)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Multi-agent orchestration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Automated evaluation pipeline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ChromaDB vector store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OpenAI embeddings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3207360" y="-5086743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69" y="0"/>
                </a:moveTo>
                <a:lnTo>
                  <a:pt x="0" y="0"/>
                </a:lnTo>
                <a:lnTo>
                  <a:pt x="0" y="10230243"/>
                </a:lnTo>
                <a:lnTo>
                  <a:pt x="7161169" y="10230243"/>
                </a:lnTo>
                <a:lnTo>
                  <a:pt x="71611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3885569">
            <a:off x="15560500" y="4143179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69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69" y="10230242"/>
                </a:lnTo>
                <a:lnTo>
                  <a:pt x="71611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29407" y="3866959"/>
            <a:ext cx="4656668" cy="1993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b="true" sz="2799" u="sng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Deployment Options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Local via Streamlit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Docker containerization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Python 3.11+ required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Scalable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29502" y="3866959"/>
            <a:ext cx="4656668" cy="359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b="true" sz="2799" u="sng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Core Frameworks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LangGraph for agent workflows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LangChain for LLM integration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Streamlit for UI interface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Key files: app.py, graph.py, rag.py, evaluation_metrics.py &amp; servicenow_client.py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953809" y="7660195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70"/>
                </a:lnTo>
                <a:lnTo>
                  <a:pt x="0" y="679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09074" y="7660195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69" y="0"/>
                </a:lnTo>
                <a:lnTo>
                  <a:pt x="679169" y="679170"/>
                </a:lnTo>
                <a:lnTo>
                  <a:pt x="0" y="679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061649" y="4391102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69"/>
                </a:lnTo>
                <a:lnTo>
                  <a:pt x="0" y="679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5619092" y="1105270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6745" y="4332554"/>
            <a:ext cx="6839189" cy="4855824"/>
          </a:xfrm>
          <a:custGeom>
            <a:avLst/>
            <a:gdLst/>
            <a:ahLst/>
            <a:cxnLst/>
            <a:rect r="r" b="b" t="t" l="l"/>
            <a:pathLst>
              <a:path h="4855824" w="6839189">
                <a:moveTo>
                  <a:pt x="0" y="0"/>
                </a:moveTo>
                <a:lnTo>
                  <a:pt x="6839188" y="0"/>
                </a:lnTo>
                <a:lnTo>
                  <a:pt x="6839188" y="4855824"/>
                </a:lnTo>
                <a:lnTo>
                  <a:pt x="0" y="48558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14835" y="2067868"/>
            <a:ext cx="10894849" cy="1128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3"/>
              </a:lnSpc>
            </a:pPr>
            <a:r>
              <a:rPr lang="en-US" b="true" sz="6748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SYSTEM DESIGN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14835" y="3879436"/>
            <a:ext cx="6552437" cy="4435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7"/>
              </a:lnSpc>
            </a:pPr>
            <a:r>
              <a:rPr lang="en-US" b="true" sz="2094" u="sng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Multi-Agent Architecture Flow:</a:t>
            </a:r>
          </a:p>
          <a:p>
            <a:pPr algn="l" marL="0" indent="0" lvl="0">
              <a:lnSpc>
                <a:spcPts val="2387"/>
              </a:lnSpc>
            </a:pPr>
            <a:r>
              <a:rPr lang="en-US" sz="2094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Intake Agent → Receives and processes customer queries</a:t>
            </a:r>
          </a:p>
          <a:p>
            <a:pPr algn="l" marL="0" indent="0" lvl="0">
              <a:lnSpc>
                <a:spcPts val="2387"/>
              </a:lnSpc>
            </a:pPr>
            <a:r>
              <a:rPr lang="en-US" sz="2094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Clarification Agent → Gathers additional context when needed</a:t>
            </a:r>
          </a:p>
          <a:p>
            <a:pPr algn="l" marL="0" indent="0" lvl="0">
              <a:lnSpc>
                <a:spcPts val="2387"/>
              </a:lnSpc>
            </a:pPr>
            <a:r>
              <a:rPr lang="en-US" sz="2094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RAG Answering Agent → Retrieves knowledge and generates responses</a:t>
            </a:r>
          </a:p>
          <a:p>
            <a:pPr algn="l" marL="0" indent="0" lvl="0">
              <a:lnSpc>
                <a:spcPts val="2387"/>
              </a:lnSpc>
            </a:pPr>
            <a:r>
              <a:rPr lang="en-US" sz="2094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Summary Agent → Condenses interactions for records</a:t>
            </a:r>
          </a:p>
          <a:p>
            <a:pPr algn="l" marL="0" indent="0" lvl="0">
              <a:lnSpc>
                <a:spcPts val="2387"/>
              </a:lnSpc>
            </a:pPr>
            <a:r>
              <a:rPr lang="en-US" sz="2094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Routing Agent → Directs tickets to appropriate channels</a:t>
            </a:r>
          </a:p>
          <a:p>
            <a:pPr algn="l" marL="0" indent="0" lvl="0">
              <a:lnSpc>
                <a:spcPts val="2387"/>
              </a:lnSpc>
            </a:pPr>
            <a:r>
              <a:rPr lang="en-US" sz="2094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ServiceNow Agent → Creates and manages support tickets</a:t>
            </a:r>
          </a:p>
          <a:p>
            <a:pPr algn="l" marL="0" indent="0" lvl="0">
              <a:lnSpc>
                <a:spcPts val="2387"/>
              </a:lnSpc>
            </a:pPr>
            <a:r>
              <a:rPr lang="en-US" sz="2094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Supporting Components:</a:t>
            </a:r>
          </a:p>
          <a:p>
            <a:pPr algn="l" marL="0" indent="0" lvl="0">
              <a:lnSpc>
                <a:spcPts val="2387"/>
              </a:lnSpc>
            </a:pPr>
            <a:r>
              <a:rPr lang="en-US" sz="2094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ChromaDB vector store with OpenAI embeddings</a:t>
            </a:r>
          </a:p>
          <a:p>
            <a:pPr algn="l" marL="0" indent="0" lvl="0">
              <a:lnSpc>
                <a:spcPts val="2387"/>
              </a:lnSpc>
            </a:pPr>
            <a:r>
              <a:rPr lang="en-US" sz="2094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Automated evaluation pipeline for quality assurance</a:t>
            </a:r>
          </a:p>
          <a:p>
            <a:pPr algn="l" marL="0" indent="0" lvl="0">
              <a:lnSpc>
                <a:spcPts val="2387"/>
              </a:lnSpc>
            </a:pPr>
            <a:r>
              <a:rPr lang="en-US" sz="2094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• Streamlit interface for real-time interaction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6918183" y="5888904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95250"/>
            <a:ext cx="12420678" cy="1058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46"/>
              </a:lnSpc>
            </a:pPr>
            <a:r>
              <a:rPr lang="en-US" b="true" sz="6356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USER WORKFLOW DIAGRAM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125845" y="-4806690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39927" y="1730507"/>
            <a:ext cx="11726926" cy="8413430"/>
          </a:xfrm>
          <a:custGeom>
            <a:avLst/>
            <a:gdLst/>
            <a:ahLst/>
            <a:cxnLst/>
            <a:rect r="r" b="b" t="t" l="l"/>
            <a:pathLst>
              <a:path h="8413430" w="11726926">
                <a:moveTo>
                  <a:pt x="0" y="0"/>
                </a:moveTo>
                <a:lnTo>
                  <a:pt x="11726926" y="0"/>
                </a:lnTo>
                <a:lnTo>
                  <a:pt x="11726926" y="8413430"/>
                </a:lnTo>
                <a:lnTo>
                  <a:pt x="0" y="8413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45" r="0" b="-745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6918183" y="5888904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454424" y="1459858"/>
            <a:ext cx="3804876" cy="3547520"/>
            <a:chOff x="0" y="0"/>
            <a:chExt cx="812800" cy="7578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57823"/>
            </a:xfrm>
            <a:custGeom>
              <a:avLst/>
              <a:gdLst/>
              <a:ahLst/>
              <a:cxnLst/>
              <a:rect r="r" b="b" t="t" l="l"/>
              <a:pathLst>
                <a:path h="757823" w="812800">
                  <a:moveTo>
                    <a:pt x="46799" y="0"/>
                  </a:moveTo>
                  <a:lnTo>
                    <a:pt x="766001" y="0"/>
                  </a:lnTo>
                  <a:cubicBezTo>
                    <a:pt x="791847" y="0"/>
                    <a:pt x="812800" y="20953"/>
                    <a:pt x="812800" y="46799"/>
                  </a:cubicBezTo>
                  <a:lnTo>
                    <a:pt x="812800" y="711024"/>
                  </a:lnTo>
                  <a:cubicBezTo>
                    <a:pt x="812800" y="736871"/>
                    <a:pt x="791847" y="757823"/>
                    <a:pt x="766001" y="757823"/>
                  </a:cubicBezTo>
                  <a:lnTo>
                    <a:pt x="46799" y="757823"/>
                  </a:lnTo>
                  <a:cubicBezTo>
                    <a:pt x="20953" y="757823"/>
                    <a:pt x="0" y="736871"/>
                    <a:pt x="0" y="711024"/>
                  </a:cubicBezTo>
                  <a:lnTo>
                    <a:pt x="0" y="46799"/>
                  </a:lnTo>
                  <a:cubicBezTo>
                    <a:pt x="0" y="20953"/>
                    <a:pt x="20953" y="0"/>
                    <a:pt x="4679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627" r="0" b="-362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454424" y="5279623"/>
            <a:ext cx="3804876" cy="3547520"/>
            <a:chOff x="0" y="0"/>
            <a:chExt cx="812800" cy="757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57823"/>
            </a:xfrm>
            <a:custGeom>
              <a:avLst/>
              <a:gdLst/>
              <a:ahLst/>
              <a:cxnLst/>
              <a:rect r="r" b="b" t="t" l="l"/>
              <a:pathLst>
                <a:path h="757823" w="812800">
                  <a:moveTo>
                    <a:pt x="46799" y="0"/>
                  </a:moveTo>
                  <a:lnTo>
                    <a:pt x="766001" y="0"/>
                  </a:lnTo>
                  <a:cubicBezTo>
                    <a:pt x="791847" y="0"/>
                    <a:pt x="812800" y="20953"/>
                    <a:pt x="812800" y="46799"/>
                  </a:cubicBezTo>
                  <a:lnTo>
                    <a:pt x="812800" y="711024"/>
                  </a:lnTo>
                  <a:cubicBezTo>
                    <a:pt x="812800" y="736871"/>
                    <a:pt x="791847" y="757823"/>
                    <a:pt x="766001" y="757823"/>
                  </a:cubicBezTo>
                  <a:lnTo>
                    <a:pt x="46799" y="757823"/>
                  </a:lnTo>
                  <a:cubicBezTo>
                    <a:pt x="20953" y="757823"/>
                    <a:pt x="0" y="736871"/>
                    <a:pt x="0" y="711024"/>
                  </a:cubicBezTo>
                  <a:lnTo>
                    <a:pt x="0" y="46799"/>
                  </a:lnTo>
                  <a:cubicBezTo>
                    <a:pt x="0" y="20953"/>
                    <a:pt x="20953" y="0"/>
                    <a:pt x="4679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627" r="0" b="-3627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829272" y="3519317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70"/>
                </a:lnTo>
                <a:lnTo>
                  <a:pt x="0" y="6791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29272" y="5478561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69"/>
                </a:lnTo>
                <a:lnTo>
                  <a:pt x="0" y="679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29272" y="7433472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69"/>
                </a:lnTo>
                <a:lnTo>
                  <a:pt x="0" y="679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29272" y="1364608"/>
            <a:ext cx="10894849" cy="1058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46"/>
              </a:lnSpc>
            </a:pPr>
            <a:r>
              <a:rPr lang="en-US" b="true" sz="6356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APPLICATION GUIDE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95628" y="3076709"/>
            <a:ext cx="10148400" cy="1192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9"/>
              </a:lnSpc>
            </a:pPr>
            <a:r>
              <a:rPr lang="en-US" b="true" sz="2798">
                <a:solidFill>
                  <a:srgbClr val="FFFFFF"/>
                </a:solidFill>
                <a:latin typeface="Koho Bold"/>
                <a:ea typeface="Koho Bold"/>
                <a:cs typeface="Koho Bold"/>
                <a:sym typeface="Koho Bold"/>
              </a:rPr>
              <a:t>Setup:</a:t>
            </a:r>
            <a:r>
              <a:rPr lang="en-US" sz="2798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 Configure environment variables, install dependencies (Python 3.11+), and prepare your knowledge base documents. The streamlined setup process gets you running in minutes.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95628" y="5035952"/>
            <a:ext cx="10148400" cy="1192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9"/>
              </a:lnSpc>
            </a:pPr>
            <a:r>
              <a:rPr lang="en-US" b="true" sz="2798">
                <a:solidFill>
                  <a:srgbClr val="FFFFFF"/>
                </a:solidFill>
                <a:latin typeface="Koho Bold"/>
                <a:ea typeface="Koho Bold"/>
                <a:cs typeface="Koho Bold"/>
                <a:sym typeface="Koho Bold"/>
              </a:rPr>
              <a:t>Running Support Agent:</a:t>
            </a:r>
            <a:r>
              <a:rPr lang="en-US" sz="2798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 Enter customer issues through the Streamlit interface, watch the multi-agent workflow process in real-time, and optionally enable automatic ServiceNow ticket creation.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95628" y="6990863"/>
            <a:ext cx="10148400" cy="159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9"/>
              </a:lnSpc>
            </a:pPr>
            <a:r>
              <a:rPr lang="en-US" b="true" sz="2798">
                <a:solidFill>
                  <a:srgbClr val="FFFFFF"/>
                </a:solidFill>
                <a:latin typeface="Koho Bold"/>
                <a:ea typeface="Koho Bold"/>
                <a:cs typeface="Koho Bold"/>
                <a:sym typeface="Koho Bold"/>
              </a:rPr>
              <a:t>Evaluation &amp; Output: </a:t>
            </a:r>
            <a:r>
              <a:rPr lang="en-US" sz="2798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Run evaluation tests to review quality metrics, view AI-generated responses with summaries and routing recommendations, and receive instant real-time feedback on system performance.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125845" y="-4806690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7221231" y="1520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2384810" y="239737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08696" y="4486455"/>
            <a:ext cx="736528" cy="726655"/>
          </a:xfrm>
          <a:custGeom>
            <a:avLst/>
            <a:gdLst/>
            <a:ahLst/>
            <a:cxnLst/>
            <a:rect r="r" b="b" t="t" l="l"/>
            <a:pathLst>
              <a:path h="726655" w="736528">
                <a:moveTo>
                  <a:pt x="0" y="0"/>
                </a:moveTo>
                <a:lnTo>
                  <a:pt x="736528" y="0"/>
                </a:lnTo>
                <a:lnTo>
                  <a:pt x="736528" y="726655"/>
                </a:lnTo>
                <a:lnTo>
                  <a:pt x="0" y="726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36389" y="1587629"/>
            <a:ext cx="9615222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49"/>
              </a:lnSpc>
            </a:pPr>
            <a:r>
              <a:rPr lang="en-US" b="true" sz="7500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PERFORMANCE METRICS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3846" y="4315722"/>
            <a:ext cx="10580784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b="true" sz="2799">
                <a:solidFill>
                  <a:srgbClr val="FFFFFF"/>
                </a:solidFill>
                <a:latin typeface="Koho Bold"/>
                <a:ea typeface="Koho Bold"/>
                <a:cs typeface="Koho Bold"/>
                <a:sym typeface="Koho Bold"/>
              </a:rPr>
              <a:t>Answer Quality:</a:t>
            </a: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 4.2 / 5 — AI-generated responses consistently meet high accuracy standards based on RAG knowledge retrieval and multi-agent validation.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13846" y="5856350"/>
            <a:ext cx="10580784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b="true" sz="2799">
                <a:solidFill>
                  <a:srgbClr val="FFFFFF"/>
                </a:solidFill>
                <a:latin typeface="Koho Bold"/>
                <a:ea typeface="Koho Bold"/>
                <a:cs typeface="Koho Bold"/>
                <a:sym typeface="Koho Bold"/>
              </a:rPr>
              <a:t>Summary Accuracy:</a:t>
            </a: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 4.1 / 5 — Automated conversation summaries capture key details with minimal information loss, enabling efficient handoffs.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13846" y="7401685"/>
            <a:ext cx="10580784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b="true" sz="2799">
                <a:solidFill>
                  <a:srgbClr val="FFFFFF"/>
                </a:solidFill>
                <a:latin typeface="Koho Bold"/>
                <a:ea typeface="Koho Bold"/>
                <a:cs typeface="Koho Bold"/>
                <a:sym typeface="Koho Bold"/>
              </a:rPr>
              <a:t>Ticket Decision:</a:t>
            </a: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 92% | Routing: 89% | Response Time: &lt;3 seconds, High-precision automation ensures fast, reliable customer support operations.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658791" y="6057944"/>
            <a:ext cx="635237" cy="664300"/>
          </a:xfrm>
          <a:custGeom>
            <a:avLst/>
            <a:gdLst/>
            <a:ahLst/>
            <a:cxnLst/>
            <a:rect r="r" b="b" t="t" l="l"/>
            <a:pathLst>
              <a:path h="664300" w="635237">
                <a:moveTo>
                  <a:pt x="0" y="0"/>
                </a:moveTo>
                <a:lnTo>
                  <a:pt x="635236" y="0"/>
                </a:lnTo>
                <a:lnTo>
                  <a:pt x="635236" y="664300"/>
                </a:lnTo>
                <a:lnTo>
                  <a:pt x="0" y="6643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635725" y="7599961"/>
            <a:ext cx="837057" cy="836011"/>
          </a:xfrm>
          <a:custGeom>
            <a:avLst/>
            <a:gdLst/>
            <a:ahLst/>
            <a:cxnLst/>
            <a:rect r="r" b="b" t="t" l="l"/>
            <a:pathLst>
              <a:path h="836011" w="837057">
                <a:moveTo>
                  <a:pt x="0" y="0"/>
                </a:moveTo>
                <a:lnTo>
                  <a:pt x="837057" y="0"/>
                </a:lnTo>
                <a:lnTo>
                  <a:pt x="837057" y="836010"/>
                </a:lnTo>
                <a:lnTo>
                  <a:pt x="0" y="8360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6048" y="3785953"/>
            <a:ext cx="10894849" cy="4698362"/>
            <a:chOff x="0" y="0"/>
            <a:chExt cx="971835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1835" cy="419100"/>
            </a:xfrm>
            <a:custGeom>
              <a:avLst/>
              <a:gdLst/>
              <a:ahLst/>
              <a:cxnLst/>
              <a:rect r="r" b="b" t="t" l="l"/>
              <a:pathLst>
                <a:path h="419100" w="971835">
                  <a:moveTo>
                    <a:pt x="0" y="0"/>
                  </a:moveTo>
                  <a:lnTo>
                    <a:pt x="971835" y="0"/>
                  </a:lnTo>
                  <a:lnTo>
                    <a:pt x="971835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005F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71835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55931" y="4343292"/>
            <a:ext cx="10095082" cy="334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2"/>
              </a:lnSpc>
            </a:pPr>
            <a:r>
              <a:rPr lang="en-US" b="true" sz="2607">
                <a:solidFill>
                  <a:srgbClr val="FFFFFF"/>
                </a:solidFill>
                <a:latin typeface="Koho Bold"/>
                <a:ea typeface="Koho Bold"/>
                <a:cs typeface="Koho Bold"/>
                <a:sym typeface="Koho Bold"/>
              </a:rPr>
              <a:t>Extend and adapt the system to your needs:</a:t>
            </a:r>
          </a:p>
          <a:p>
            <a:pPr algn="l" marL="0" indent="0" lvl="0">
              <a:lnSpc>
                <a:spcPts val="2972"/>
              </a:lnSpc>
            </a:pPr>
            <a:r>
              <a:rPr lang="en-US" sz="2607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• Add knowledge base documents in data/kb_docs/ to expand AI knowledge</a:t>
            </a:r>
          </a:p>
          <a:p>
            <a:pPr algn="l" marL="0" indent="0" lvl="0">
              <a:lnSpc>
                <a:spcPts val="2972"/>
              </a:lnSpc>
            </a:pPr>
            <a:r>
              <a:rPr lang="en-US" sz="2607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• Modify agent logic in graph.py to customize workflow behavior</a:t>
            </a:r>
          </a:p>
          <a:p>
            <a:pPr algn="l" marL="0" indent="0" lvl="0">
              <a:lnSpc>
                <a:spcPts val="2972"/>
              </a:lnSpc>
            </a:pPr>
            <a:r>
              <a:rPr lang="en-US" sz="2607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• Adjust evaluation criteria in evaluation_metric.py for tailored metrics</a:t>
            </a:r>
          </a:p>
          <a:p>
            <a:pPr algn="l" marL="0" indent="0" lvl="0">
              <a:lnSpc>
                <a:spcPts val="2972"/>
              </a:lnSpc>
            </a:pPr>
            <a:r>
              <a:rPr lang="en-US" sz="2607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• Extend ServiceNow integration for real API calls and ticket management</a:t>
            </a:r>
          </a:p>
          <a:p>
            <a:pPr algn="l" marL="0" indent="0" lvl="0">
              <a:lnSpc>
                <a:spcPts val="2972"/>
              </a:lnSpc>
            </a:pPr>
            <a:r>
              <a:rPr lang="en-US" sz="2607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Agentic AI delivers a scalable, intelligent customer support solution combining cutting-edge AI techniques with flexible deployment options.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11639925" y="506646"/>
            <a:ext cx="12084830" cy="10662886"/>
          </a:xfrm>
          <a:custGeom>
            <a:avLst/>
            <a:gdLst/>
            <a:ahLst/>
            <a:cxnLst/>
            <a:rect r="r" b="b" t="t" l="l"/>
            <a:pathLst>
              <a:path h="10662886" w="12084830">
                <a:moveTo>
                  <a:pt x="0" y="0"/>
                </a:moveTo>
                <a:lnTo>
                  <a:pt x="12084830" y="0"/>
                </a:lnTo>
                <a:lnTo>
                  <a:pt x="12084830" y="10662886"/>
                </a:lnTo>
                <a:lnTo>
                  <a:pt x="0" y="10662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526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56048" y="1983911"/>
            <a:ext cx="10894849" cy="1138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27"/>
              </a:lnSpc>
            </a:pPr>
            <a:r>
              <a:rPr lang="en-US" b="true" sz="6866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CUSTOMIZATION OPTIONS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22833" y="3629195"/>
            <a:ext cx="9842334" cy="208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61"/>
              </a:lnSpc>
            </a:pPr>
            <a:r>
              <a:rPr lang="en-US" b="true" sz="12597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QUESTIONS?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3499617" y="-3375063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33266" y="5410624"/>
            <a:ext cx="9731901" cy="84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48"/>
              </a:lnSpc>
            </a:pPr>
            <a:r>
              <a:rPr lang="en-US" b="true" sz="2936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Explore the demo at github.com/dsaraniyacse87/customer-support-app.git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-151067">
            <a:off x="-1812924" y="4400378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0" y="10230242"/>
                </a:moveTo>
                <a:lnTo>
                  <a:pt x="7161170" y="10230242"/>
                </a:lnTo>
                <a:lnTo>
                  <a:pt x="7161170" y="0"/>
                </a:lnTo>
                <a:lnTo>
                  <a:pt x="0" y="0"/>
                </a:lnTo>
                <a:lnTo>
                  <a:pt x="0" y="1023024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25238" y="-129416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94558" y="781733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DAHGVwVu7Ww</dc:identifier>
  <dcterms:modified xsi:type="dcterms:W3CDTF">2011-08-01T06:04:30Z</dcterms:modified>
  <cp:revision>1</cp:revision>
  <dc:title>Agentic AI Customer Support Demo</dc:title>
</cp:coreProperties>
</file>